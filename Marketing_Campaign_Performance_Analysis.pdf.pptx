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3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340"/>
                </a:solidFill>
                <a:latin typeface="Calibri"/>
              </a:rPr>
              <a:t>Response Rate by Customer Tenure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 by Tenure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 6 months</c:v>
                  </c:pt>
                  <c:pt idx="1">
                    <c:v>6–12 months</c:v>
                  </c:pt>
                  <c:pt idx="2">
                    <c:v>1–1.5 years</c:v>
                  </c:pt>
                  <c:pt idx="3">
                    <c:v>&gt; 1.5 years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8.65</c:v>
                </c:pt>
                <c:pt idx="1">
                  <c:v>9.38</c:v>
                </c:pt>
                <c:pt idx="2">
                  <c:v>16.61</c:v>
                </c:pt>
                <c:pt idx="3">
                  <c:v>26.48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0624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029200"/>
            <a:ext cx="3840480" cy="3840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DATA ANALYTICS PORTFOLIO CASE STUDY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Campaign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Customer Data Into Marketing Insights &amp; Business Decisions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2926080" cy="0"/>
          </a:xfrm>
          <a:prstGeom prst="line">
            <a:avLst/>
          </a:prstGeom>
          <a:noFill/>
          <a:ln w="25400">
            <a:solidFill>
              <a:srgbClr val="C996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Personality Analysis  ·  Python  ·  SQL  ·  K-Means Segmentation  ·  Power BI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D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fictional company scenario, built on real analytical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data is valuable only when</a:t>
            </a:r>
            <a:endParaRPr lang="en-US" sz="27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leads to better decisions.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488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a company understand its customers and marketing campaign performance</a:t>
            </a:r>
            <a:endParaRPr lang="en-US" sz="15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make better marketing decisions?”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184708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42900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04288" y="342900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3429000"/>
            <a:ext cx="184708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342900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07408" y="342900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84708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342900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0528" y="342900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66560" y="3429000"/>
            <a:ext cx="184708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342900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13648" y="3429000"/>
            <a:ext cx="256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69680" y="3429000"/>
            <a:ext cx="1847088" cy="960120"/>
          </a:xfrm>
          <a:prstGeom prst="roundRect">
            <a:avLst>
              <a:gd name="adj" fmla="val 7619"/>
            </a:avLst>
          </a:prstGeom>
          <a:solidFill>
            <a:srgbClr val="C9962C"/>
          </a:solidFill>
          <a:ln w="12700">
            <a:solidFill>
              <a:srgbClr val="C9962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869680" y="3429000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50292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behavioral and demographic patterns associated with campaign response.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into actionable behavioral groups.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analytical evidence into marketing strategies.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with 2,240 customers</a:t>
            </a:r>
            <a:endParaRPr lang="en-US" sz="27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29 variables.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Personality Analysis dataset — household demographics, purchasing behavior, and marketing campaign history.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cleaning, the analytical base narrowed to 2,233 customers across four behavioral data domains.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4270248"/>
            <a:ext cx="14721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6928" y="4873752"/>
            <a:ext cx="147218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customers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41605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4270248"/>
            <a:ext cx="14721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95728" y="4873752"/>
            <a:ext cx="147218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0" y="416052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24528" y="4270248"/>
            <a:ext cx="14721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2,233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24528" y="4873752"/>
            <a:ext cx="147218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analytical dataset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5532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DOMAINS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852160"/>
            <a:ext cx="128016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852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47088" y="5852160"/>
            <a:ext cx="128016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5852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Behavior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36976" y="5852160"/>
            <a:ext cx="128016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36976" y="5852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Engagement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26864" y="5852160"/>
            <a:ext cx="128016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5852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0" y="2148840"/>
            <a:ext cx="5330952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26" name="Image 0" descr="313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364650"/>
            <a:ext cx="5330952" cy="34545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400800" y="6089904"/>
            <a:ext cx="5330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Python EDA — customer education distribution, one facet of the customer-profile domain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analysis, the data had</a:t>
            </a:r>
            <a:endParaRPr lang="en-US" sz="27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earn our trust.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missing Income values — the only field with gaps.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records found.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implausible birth years (1893, 1899, 1900) identified and removed.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customer age range: 18–74 (average 45.1).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income outlier of 666,666 was preserved in the dataset — it was excluded only from distance-based clustering, where it would have distorted segmentation.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148840"/>
            <a:ext cx="5422392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0" descr="313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341508"/>
            <a:ext cx="5422392" cy="35008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6089904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Python EDA — Income vs. Total Spending, showing the 666,666 income outlier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columns became</a:t>
            </a:r>
            <a:endParaRPr lang="en-US" sz="27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business-ready metrics.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23317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54680" y="23317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23317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0" y="23317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3317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49640" y="23317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C9962C"/>
          </a:solidFill>
          <a:ln w="12700">
            <a:solidFill>
              <a:srgbClr val="C9962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4964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BUSINESS METRICS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5216" y="403250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85216" y="457200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Kidhome + Teenhome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24912" y="3886200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852928" y="403250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Spending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852928" y="457200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6 product categories · avg 605.38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92624" y="3886200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403250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Purchases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20640" y="457200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Catalog + Store · avg 12.54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60336" y="3886200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88352" y="403250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Size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388352" y="457200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+ household adult mapping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28048" y="3886200"/>
            <a:ext cx="212140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56064" y="4032504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Tenure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656064" y="457200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date − enrollment date · avg 353.54 days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BEHAVIOR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Responders behaved differently</a:t>
            </a:r>
            <a:endParaRPr lang="en-US" sz="27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non-responders.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NON-RESPONDERS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60904"/>
            <a:ext cx="5486400" cy="566928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15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0" y="27157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$538.49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7157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$988.40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2826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32826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2826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15.36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486400" cy="566928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962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Income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38496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$50,824.61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8496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$60,161.23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416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(days, lower = more recent)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44165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4416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35.41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120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spending, more purchases, higher income, and more recent activity were all associated with campaign response.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331720"/>
            <a:ext cx="5422392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25" name="Image 0" descr="313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591549"/>
            <a:ext cx="5422392" cy="300078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309360" y="5907024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— Average Total Spending by Response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RESPONDS?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was not evenly distributed across customer groups.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7033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7" name="Image 0" descr="313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54590"/>
            <a:ext cx="3703320" cy="20972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239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Response Rate by Education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34840" y="1737360"/>
            <a:ext cx="37033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10" name="Image 1" descr="3131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45255"/>
            <a:ext cx="3703320" cy="23159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41239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Average Spending by Education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— RESPONSE RATE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47091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— 20.70%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— 15.45%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— 13.41%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 Cycle — 10.95%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— 3.70%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434840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AT HOME — RESPONSE RATE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434840" y="47091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children — 26.46%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child — 10.23%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children — 11.16%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children — 3.77%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366760" y="1737360"/>
            <a:ext cx="3364992" cy="44348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59536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PATTERN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595360" y="23774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levels and having fewer children at home were both associated with higher response — households with no children showed the highest response rate observed in the dataset.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595360" y="5394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observed associations, not causal drivers of response.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behavioral customer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segments emerged from the data.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K-Means clustering on StandardScaler-normalized features.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Income, Recency, Total Spending, Total Purchases, and Web / Catalog / Store purchases (7 total).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and AcceptedCmp1–5 were deliberately excluded from clustering to avoid target leakage and circular analysis.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3434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4453128"/>
            <a:ext cx="238658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4974336"/>
            <a:ext cx="238658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cluster solution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43434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4453128"/>
            <a:ext cx="243230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10128" y="4974336"/>
            <a:ext cx="2432304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at K =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5422392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14" name="Image 0" descr="313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652418"/>
            <a:ext cx="5422392" cy="29704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309360" y="6181344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Python — Elbow Method used to evaluate cluster count (K = 2–8)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SEGMENTATION INSIGHT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 of customers generated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67% of responders.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452360" y="1508760"/>
            <a:ext cx="4279392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7" name="Image 0" descr="313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931894"/>
            <a:ext cx="4279392" cy="23084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52360" y="470916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— Customer count by Customer_Segment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232C63"/>
          </a:solidFill>
          <a:ln w="19050">
            <a:solidFill>
              <a:srgbClr val="9AA6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5877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Lower-Value Customers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29900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52.6% of customers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383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A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9.37% response rate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0080" y="38679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33.13% of all responders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023360" y="242316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232C63"/>
          </a:solidFill>
          <a:ln w="19050">
            <a:solidFill>
              <a:srgbClr val="C996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06240" y="25877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Higher-Value Customers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206240" y="29900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 of customers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206240" y="3383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20.98% response rate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206240" y="386791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66.87% of all responders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4709160"/>
            <a:ext cx="6537960" cy="1005840"/>
          </a:xfrm>
          <a:prstGeom prst="roundRect">
            <a:avLst>
              <a:gd name="adj" fmla="val 7273"/>
            </a:avLst>
          </a:prstGeom>
          <a:solidFill>
            <a:srgbClr val="C9962C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709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2.24×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2148840" y="47091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response-rate lift for Higher-Value customers compared to Lower-Value customers.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GAP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Higher-Value segment behaves fundamentally differently.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092440" y="1417320"/>
            <a:ext cx="363931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7" name="Image 0" descr="313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433008"/>
            <a:ext cx="3639312" cy="18431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92440" y="3346704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Response Rate by Customer_Segment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56616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LOWER-VALUE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69280" y="1417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1709928"/>
            <a:ext cx="7452360" cy="3429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728216"/>
            <a:ext cx="2926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566160" y="1728216"/>
            <a:ext cx="20116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1,174 (52.6%)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103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1,058 (47.4%)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2071116"/>
            <a:ext cx="2926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Income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66160" y="2071116"/>
            <a:ext cx="20116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$36,530.38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0" y="2071116"/>
            <a:ext cx="2103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$69,033.82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395728"/>
            <a:ext cx="7452360" cy="3429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2414016"/>
            <a:ext cx="2926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566160" y="2414016"/>
            <a:ext cx="20116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$130.71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0" y="2414016"/>
            <a:ext cx="2103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$1,132.60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2756916"/>
            <a:ext cx="2926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566160" y="2756916"/>
            <a:ext cx="20116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6.58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0" y="2756916"/>
            <a:ext cx="2103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081528"/>
            <a:ext cx="7452360" cy="3429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3099816"/>
            <a:ext cx="2926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Purchases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566160" y="3099816"/>
            <a:ext cx="20116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669280" y="3099816"/>
            <a:ext cx="2103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5.92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3442716"/>
            <a:ext cx="2926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Purchases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566160" y="3442716"/>
            <a:ext cx="20116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669280" y="3442716"/>
            <a:ext cx="2103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4.85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3767328"/>
            <a:ext cx="7452360" cy="34290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34" name="Text 31"/>
          <p:cNvSpPr/>
          <p:nvPr/>
        </p:nvSpPr>
        <p:spPr>
          <a:xfrm>
            <a:off x="548640" y="3785616"/>
            <a:ext cx="2926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Purchases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566160" y="3785616"/>
            <a:ext cx="20116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3.47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669280" y="3785616"/>
            <a:ext cx="2103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8.38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48640" y="4128516"/>
            <a:ext cx="2926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566160" y="4128516"/>
            <a:ext cx="20116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9.37%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669280" y="4128516"/>
            <a:ext cx="210312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20.98%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4700016"/>
            <a:ext cx="235915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566928" y="470001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8.66×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1463040" y="470001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spending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999232" y="4700016"/>
            <a:ext cx="235915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3108960" y="470001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2.91×</a:t>
            </a:r>
            <a:endParaRPr lang="en-US" sz="1650" dirty="0"/>
          </a:p>
        </p:txBody>
      </p:sp>
      <p:sp>
        <p:nvSpPr>
          <p:cNvPr id="45" name="Text 42"/>
          <p:cNvSpPr/>
          <p:nvPr/>
        </p:nvSpPr>
        <p:spPr>
          <a:xfrm>
            <a:off x="4005072" y="470001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purchases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541264" y="4700016"/>
            <a:ext cx="2359152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5650992" y="470001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+11.61 pp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6547104" y="470001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CHANNEL BEHAVIOR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Responders were more active across products and channels.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7" name="Image 0" descr="313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39" y="1417320"/>
            <a:ext cx="5223122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3068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Average product spending by Response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48640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10" name="Image 1" descr="3132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47416"/>
            <a:ext cx="5486400" cy="25744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0" y="43068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Average purchases by channel, by Response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45720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SPENDING — NON-RESPONDER → RESPONDER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57200" y="4828032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Wines: $269.11 → $503.34  (largest absolute gap)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Meat: $144.41 → $295.60  (2nd largest gap)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/ Sweets / Gold / Fruits: smaller, consistent gaps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263640" y="45720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— NON-RESPONDER → RESPONDER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263640" y="4828032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 2.39 → 4.20 purchases  (strongest relative gap)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3.91 → 5.07 purchases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 5.74 → 6.09 purchases  (smallest relative gap)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&amp; RECENCY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relationship depth and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activity matter.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468880"/>
          <a:ext cx="53949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9834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tenure: 337.29 days (non-responders) vs. 446.62 days (responders) — a 109.33-day difference.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09360" y="21488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(DAYS SINCE LAST PURCHASE)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2514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19088" y="2624328"/>
            <a:ext cx="238658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51.54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19088" y="3337560"/>
            <a:ext cx="2386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days — Non-Responders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098280" y="25146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208008" y="2624328"/>
            <a:ext cx="238658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35.41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208008" y="3337560"/>
            <a:ext cx="23865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days — Responders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09360" y="41148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37960" y="41148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 were associated with more recent engagement — 16.13 fewer days, on average, since their last purchase — and with longer overall tenure as a customer.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INSIGHT TO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become valuable when</a:t>
            </a:r>
            <a:endParaRPr lang="en-US" sz="27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change what we do.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STRATEGIES TO TEST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Higher-Value audience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2286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22860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targeted campaigns toward this segment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05409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engagement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305409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305409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customers based on inactivity windows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8221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/ Meat spending patterns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382219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382219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relevant bundles and cross-sell offers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0288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5902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customer tenure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34840" y="459028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459028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loyalty and retention strategies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58384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53583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Newer customers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34840" y="535838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535838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onboarding and early engagement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— labelled as observed association — mapped to a proposed business action, not a guaranteed outcome.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analysis to an interactive business view.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810512" cy="96012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783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2,233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22860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59152" y="1691640"/>
            <a:ext cx="1810512" cy="96012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2304" y="1783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32304" y="22860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61104" y="1691640"/>
            <a:ext cx="1810512" cy="96012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1783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14.87%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34256" y="22860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63056" y="1691640"/>
            <a:ext cx="1810512" cy="96012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783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$52.21K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36208" y="22860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Income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65008" y="1691640"/>
            <a:ext cx="1810512" cy="96012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783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$605.38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38160" y="22860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966960" y="1691640"/>
            <a:ext cx="1810512" cy="96012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40112" y="17830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40112" y="22860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25" name="Image 0" descr="313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071191"/>
            <a:ext cx="5394960" cy="2910177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126480" y="292608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27" name="Image 1" descr="313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160130"/>
            <a:ext cx="5394960" cy="2732299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57200" y="62362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Customer_Segment distribution and response rate, live-connected to the analytical dataset.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is not about finding numbers.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about finding decisions.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232C63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6609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3172968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368503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47.4% of customers represented 66.87% of all campaign responders.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25146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232C63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6609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3172968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Footprint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68503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 showed higher spending, more purchases, and more recent engagement.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25146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232C63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6609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3172968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9088" y="368503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and Meat drove the largest spending gaps; Catalog showed the strongest relative channel gap.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53144" y="25146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232C63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26609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17736" y="3172968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Roadmap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17736" y="368503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SQL, K-Means segmentation, and Power BI turned raw data into actionable marketing insight.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2328" y="521208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3A4380"/>
          </a:solidFill>
          <a:ln/>
        </p:spPr>
      </p:sp>
      <p:sp>
        <p:nvSpPr>
          <p:cNvPr id="23" name="Text 21"/>
          <p:cNvSpPr/>
          <p:nvPr/>
        </p:nvSpPr>
        <p:spPr>
          <a:xfrm>
            <a:off x="792328" y="5212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69768" y="5212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535528" y="521208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3A4380"/>
          </a:solidFill>
          <a:ln/>
        </p:spPr>
      </p:sp>
      <p:sp>
        <p:nvSpPr>
          <p:cNvPr id="26" name="Text 24"/>
          <p:cNvSpPr/>
          <p:nvPr/>
        </p:nvSpPr>
        <p:spPr>
          <a:xfrm>
            <a:off x="3535528" y="5212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12968" y="5212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78728" y="521208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3A4380"/>
          </a:solidFill>
          <a:ln/>
        </p:spPr>
      </p:sp>
      <p:sp>
        <p:nvSpPr>
          <p:cNvPr id="29" name="Text 27"/>
          <p:cNvSpPr/>
          <p:nvPr/>
        </p:nvSpPr>
        <p:spPr>
          <a:xfrm>
            <a:off x="6278728" y="5212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56168" y="5212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021928" y="521208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C9962C"/>
          </a:solidFill>
          <a:ln/>
        </p:spPr>
      </p:sp>
      <p:sp>
        <p:nvSpPr>
          <p:cNvPr id="32" name="Text 30"/>
          <p:cNvSpPr/>
          <p:nvPr/>
        </p:nvSpPr>
        <p:spPr>
          <a:xfrm>
            <a:off x="9021928" y="5212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 PERFORMANCE ANALYSIS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2026-09-09T22:02:24Z</dcterms:created>
  <dcterms:modified xsi:type="dcterms:W3CDTF">2026-09-09T22:02:24Z</dcterms:modified>
</cp:coreProperties>
</file>